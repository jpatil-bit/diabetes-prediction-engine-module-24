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A377C-E304-43E5-99F4-CC95BDAE5239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B0BBC6A-AC74-4986-8740-75AE295B1922}">
      <dgm:prSet/>
      <dgm:spPr/>
      <dgm:t>
        <a:bodyPr/>
        <a:lstStyle/>
        <a:p>
          <a:r>
            <a:rPr lang="en-US"/>
            <a:t>Predict likelihood of 30-day readmission for diabetic patients</a:t>
          </a:r>
        </a:p>
      </dgm:t>
    </dgm:pt>
    <dgm:pt modelId="{AEE0C1A4-F4E2-4750-9AC7-3F19D3894FBD}" type="parTrans" cxnId="{234BB18A-777F-4412-9E28-8916D2E8432C}">
      <dgm:prSet/>
      <dgm:spPr/>
      <dgm:t>
        <a:bodyPr/>
        <a:lstStyle/>
        <a:p>
          <a:endParaRPr lang="en-US"/>
        </a:p>
      </dgm:t>
    </dgm:pt>
    <dgm:pt modelId="{7248309E-54CD-472B-B429-B5DFB1316891}" type="sibTrans" cxnId="{234BB18A-777F-4412-9E28-8916D2E8432C}">
      <dgm:prSet/>
      <dgm:spPr/>
      <dgm:t>
        <a:bodyPr/>
        <a:lstStyle/>
        <a:p>
          <a:endParaRPr lang="en-US"/>
        </a:p>
      </dgm:t>
    </dgm:pt>
    <dgm:pt modelId="{B92164C9-3E82-4C3C-B425-68E4B7314536}">
      <dgm:prSet/>
      <dgm:spPr/>
      <dgm:t>
        <a:bodyPr/>
        <a:lstStyle/>
        <a:p>
          <a:r>
            <a:rPr lang="en-US"/>
            <a:t>Use historical hospital encounter data</a:t>
          </a:r>
        </a:p>
      </dgm:t>
    </dgm:pt>
    <dgm:pt modelId="{7EB6724C-43ED-436D-B1B3-C46AD75A9CA5}" type="parTrans" cxnId="{9E8C1E62-7AE7-41B4-A88A-454D1C80E6AE}">
      <dgm:prSet/>
      <dgm:spPr/>
      <dgm:t>
        <a:bodyPr/>
        <a:lstStyle/>
        <a:p>
          <a:endParaRPr lang="en-US"/>
        </a:p>
      </dgm:t>
    </dgm:pt>
    <dgm:pt modelId="{2452F03C-12CD-4971-8EEA-2707683CE6C7}" type="sibTrans" cxnId="{9E8C1E62-7AE7-41B4-A88A-454D1C80E6AE}">
      <dgm:prSet/>
      <dgm:spPr/>
      <dgm:t>
        <a:bodyPr/>
        <a:lstStyle/>
        <a:p>
          <a:endParaRPr lang="en-US"/>
        </a:p>
      </dgm:t>
    </dgm:pt>
    <dgm:pt modelId="{E474BF57-6FE2-432F-829B-07F307812422}">
      <dgm:prSet/>
      <dgm:spPr/>
      <dgm:t>
        <a:bodyPr/>
        <a:lstStyle/>
        <a:p>
          <a:r>
            <a:rPr lang="en-US"/>
            <a:t>Enable proactive, risk-based interventions</a:t>
          </a:r>
        </a:p>
      </dgm:t>
    </dgm:pt>
    <dgm:pt modelId="{8429A398-FB52-4C68-ABE8-9BE342EA8E6A}" type="parTrans" cxnId="{C306E683-CC7D-4823-A944-A7E14C04656B}">
      <dgm:prSet/>
      <dgm:spPr/>
      <dgm:t>
        <a:bodyPr/>
        <a:lstStyle/>
        <a:p>
          <a:endParaRPr lang="en-US"/>
        </a:p>
      </dgm:t>
    </dgm:pt>
    <dgm:pt modelId="{7EB0C44F-0C13-4A48-ABAC-F49CE9DBAE97}" type="sibTrans" cxnId="{C306E683-CC7D-4823-A944-A7E14C04656B}">
      <dgm:prSet/>
      <dgm:spPr/>
      <dgm:t>
        <a:bodyPr/>
        <a:lstStyle/>
        <a:p>
          <a:endParaRPr lang="en-US"/>
        </a:p>
      </dgm:t>
    </dgm:pt>
    <dgm:pt modelId="{B10D3EAF-653D-7D49-B7F3-478A779B16FE}" type="pres">
      <dgm:prSet presAssocID="{574A377C-E304-43E5-99F4-CC95BDAE5239}" presName="Name0" presStyleCnt="0">
        <dgm:presLayoutVars>
          <dgm:dir/>
          <dgm:resizeHandles val="exact"/>
        </dgm:presLayoutVars>
      </dgm:prSet>
      <dgm:spPr/>
    </dgm:pt>
    <dgm:pt modelId="{0A1DD3D2-9D9B-EE4B-933C-1CFB5665A203}" type="pres">
      <dgm:prSet presAssocID="{CB0BBC6A-AC74-4986-8740-75AE295B1922}" presName="node" presStyleLbl="node1" presStyleIdx="0" presStyleCnt="3">
        <dgm:presLayoutVars>
          <dgm:bulletEnabled val="1"/>
        </dgm:presLayoutVars>
      </dgm:prSet>
      <dgm:spPr/>
    </dgm:pt>
    <dgm:pt modelId="{F5D2E196-E4A1-8047-B0E3-CF73715AC326}" type="pres">
      <dgm:prSet presAssocID="{7248309E-54CD-472B-B429-B5DFB1316891}" presName="sibTrans" presStyleLbl="sibTrans1D1" presStyleIdx="0" presStyleCnt="2"/>
      <dgm:spPr/>
    </dgm:pt>
    <dgm:pt modelId="{6A0F1FF0-6300-8247-82A0-847A7371001B}" type="pres">
      <dgm:prSet presAssocID="{7248309E-54CD-472B-B429-B5DFB1316891}" presName="connectorText" presStyleLbl="sibTrans1D1" presStyleIdx="0" presStyleCnt="2"/>
      <dgm:spPr/>
    </dgm:pt>
    <dgm:pt modelId="{078E5EC1-44C3-2E4F-9A52-7EE6A72D3A3E}" type="pres">
      <dgm:prSet presAssocID="{B92164C9-3E82-4C3C-B425-68E4B7314536}" presName="node" presStyleLbl="node1" presStyleIdx="1" presStyleCnt="3">
        <dgm:presLayoutVars>
          <dgm:bulletEnabled val="1"/>
        </dgm:presLayoutVars>
      </dgm:prSet>
      <dgm:spPr/>
    </dgm:pt>
    <dgm:pt modelId="{0BE4983B-72F4-DF48-8982-0871E0CB7A0D}" type="pres">
      <dgm:prSet presAssocID="{2452F03C-12CD-4971-8EEA-2707683CE6C7}" presName="sibTrans" presStyleLbl="sibTrans1D1" presStyleIdx="1" presStyleCnt="2"/>
      <dgm:spPr/>
    </dgm:pt>
    <dgm:pt modelId="{4F3C988B-B36F-7249-91F4-844C6ACA9351}" type="pres">
      <dgm:prSet presAssocID="{2452F03C-12CD-4971-8EEA-2707683CE6C7}" presName="connectorText" presStyleLbl="sibTrans1D1" presStyleIdx="1" presStyleCnt="2"/>
      <dgm:spPr/>
    </dgm:pt>
    <dgm:pt modelId="{7B39FB43-94C2-D649-B6C4-72C06907110A}" type="pres">
      <dgm:prSet presAssocID="{E474BF57-6FE2-432F-829B-07F307812422}" presName="node" presStyleLbl="node1" presStyleIdx="2" presStyleCnt="3">
        <dgm:presLayoutVars>
          <dgm:bulletEnabled val="1"/>
        </dgm:presLayoutVars>
      </dgm:prSet>
      <dgm:spPr/>
    </dgm:pt>
  </dgm:ptLst>
  <dgm:cxnLst>
    <dgm:cxn modelId="{5B50DA1D-5040-7F41-84F1-C55E03A55AAA}" type="presOf" srcId="{7248309E-54CD-472B-B429-B5DFB1316891}" destId="{F5D2E196-E4A1-8047-B0E3-CF73715AC326}" srcOrd="0" destOrd="0" presId="urn:microsoft.com/office/officeart/2016/7/layout/RepeatingBendingProcessNew"/>
    <dgm:cxn modelId="{9074573D-DB16-B943-B91A-87730484AFA9}" type="presOf" srcId="{2452F03C-12CD-4971-8EEA-2707683CE6C7}" destId="{0BE4983B-72F4-DF48-8982-0871E0CB7A0D}" srcOrd="0" destOrd="0" presId="urn:microsoft.com/office/officeart/2016/7/layout/RepeatingBendingProcessNew"/>
    <dgm:cxn modelId="{879BF04A-A3BE-7649-A596-DF2730C52D66}" type="presOf" srcId="{B92164C9-3E82-4C3C-B425-68E4B7314536}" destId="{078E5EC1-44C3-2E4F-9A52-7EE6A72D3A3E}" srcOrd="0" destOrd="0" presId="urn:microsoft.com/office/officeart/2016/7/layout/RepeatingBendingProcessNew"/>
    <dgm:cxn modelId="{9E8C1E62-7AE7-41B4-A88A-454D1C80E6AE}" srcId="{574A377C-E304-43E5-99F4-CC95BDAE5239}" destId="{B92164C9-3E82-4C3C-B425-68E4B7314536}" srcOrd="1" destOrd="0" parTransId="{7EB6724C-43ED-436D-B1B3-C46AD75A9CA5}" sibTransId="{2452F03C-12CD-4971-8EEA-2707683CE6C7}"/>
    <dgm:cxn modelId="{C306E683-CC7D-4823-A944-A7E14C04656B}" srcId="{574A377C-E304-43E5-99F4-CC95BDAE5239}" destId="{E474BF57-6FE2-432F-829B-07F307812422}" srcOrd="2" destOrd="0" parTransId="{8429A398-FB52-4C68-ABE8-9BE342EA8E6A}" sibTransId="{7EB0C44F-0C13-4A48-ABAC-F49CE9DBAE97}"/>
    <dgm:cxn modelId="{234BB18A-777F-4412-9E28-8916D2E8432C}" srcId="{574A377C-E304-43E5-99F4-CC95BDAE5239}" destId="{CB0BBC6A-AC74-4986-8740-75AE295B1922}" srcOrd="0" destOrd="0" parTransId="{AEE0C1A4-F4E2-4750-9AC7-3F19D3894FBD}" sibTransId="{7248309E-54CD-472B-B429-B5DFB1316891}"/>
    <dgm:cxn modelId="{1CD4AA9F-C45A-D843-A2BE-D95E165C268E}" type="presOf" srcId="{7248309E-54CD-472B-B429-B5DFB1316891}" destId="{6A0F1FF0-6300-8247-82A0-847A7371001B}" srcOrd="1" destOrd="0" presId="urn:microsoft.com/office/officeart/2016/7/layout/RepeatingBendingProcessNew"/>
    <dgm:cxn modelId="{970A0AB4-F186-1A4B-BD51-68017D381FF3}" type="presOf" srcId="{574A377C-E304-43E5-99F4-CC95BDAE5239}" destId="{B10D3EAF-653D-7D49-B7F3-478A779B16FE}" srcOrd="0" destOrd="0" presId="urn:microsoft.com/office/officeart/2016/7/layout/RepeatingBendingProcessNew"/>
    <dgm:cxn modelId="{A3E644C1-3E05-3746-97B6-8D90C1AD1080}" type="presOf" srcId="{CB0BBC6A-AC74-4986-8740-75AE295B1922}" destId="{0A1DD3D2-9D9B-EE4B-933C-1CFB5665A203}" srcOrd="0" destOrd="0" presId="urn:microsoft.com/office/officeart/2016/7/layout/RepeatingBendingProcessNew"/>
    <dgm:cxn modelId="{7DC8E1C5-FF97-C746-8F4F-84BBFF197EF3}" type="presOf" srcId="{E474BF57-6FE2-432F-829B-07F307812422}" destId="{7B39FB43-94C2-D649-B6C4-72C06907110A}" srcOrd="0" destOrd="0" presId="urn:microsoft.com/office/officeart/2016/7/layout/RepeatingBendingProcessNew"/>
    <dgm:cxn modelId="{B5212DE0-F640-FD40-BADF-CC914450A6C8}" type="presOf" srcId="{2452F03C-12CD-4971-8EEA-2707683CE6C7}" destId="{4F3C988B-B36F-7249-91F4-844C6ACA9351}" srcOrd="1" destOrd="0" presId="urn:microsoft.com/office/officeart/2016/7/layout/RepeatingBendingProcessNew"/>
    <dgm:cxn modelId="{2EE97412-96B2-644E-A920-A19186805B99}" type="presParOf" srcId="{B10D3EAF-653D-7D49-B7F3-478A779B16FE}" destId="{0A1DD3D2-9D9B-EE4B-933C-1CFB5665A203}" srcOrd="0" destOrd="0" presId="urn:microsoft.com/office/officeart/2016/7/layout/RepeatingBendingProcessNew"/>
    <dgm:cxn modelId="{360357F5-3540-DD4E-9A49-954598C07AD6}" type="presParOf" srcId="{B10D3EAF-653D-7D49-B7F3-478A779B16FE}" destId="{F5D2E196-E4A1-8047-B0E3-CF73715AC326}" srcOrd="1" destOrd="0" presId="urn:microsoft.com/office/officeart/2016/7/layout/RepeatingBendingProcessNew"/>
    <dgm:cxn modelId="{1BFAD69F-848C-CC4C-8FDF-5A270697BB66}" type="presParOf" srcId="{F5D2E196-E4A1-8047-B0E3-CF73715AC326}" destId="{6A0F1FF0-6300-8247-82A0-847A7371001B}" srcOrd="0" destOrd="0" presId="urn:microsoft.com/office/officeart/2016/7/layout/RepeatingBendingProcessNew"/>
    <dgm:cxn modelId="{3B88495D-3D52-DD42-AEDA-5B3D0E5AD8C9}" type="presParOf" srcId="{B10D3EAF-653D-7D49-B7F3-478A779B16FE}" destId="{078E5EC1-44C3-2E4F-9A52-7EE6A72D3A3E}" srcOrd="2" destOrd="0" presId="urn:microsoft.com/office/officeart/2016/7/layout/RepeatingBendingProcessNew"/>
    <dgm:cxn modelId="{254265E4-F535-6947-BE37-BA4BCEAAB456}" type="presParOf" srcId="{B10D3EAF-653D-7D49-B7F3-478A779B16FE}" destId="{0BE4983B-72F4-DF48-8982-0871E0CB7A0D}" srcOrd="3" destOrd="0" presId="urn:microsoft.com/office/officeart/2016/7/layout/RepeatingBendingProcessNew"/>
    <dgm:cxn modelId="{D2189298-416E-FB4F-854F-31FA6094B068}" type="presParOf" srcId="{0BE4983B-72F4-DF48-8982-0871E0CB7A0D}" destId="{4F3C988B-B36F-7249-91F4-844C6ACA9351}" srcOrd="0" destOrd="0" presId="urn:microsoft.com/office/officeart/2016/7/layout/RepeatingBendingProcessNew"/>
    <dgm:cxn modelId="{D1440F92-FA7E-3A40-8FD5-F831A7D161DD}" type="presParOf" srcId="{B10D3EAF-653D-7D49-B7F3-478A779B16FE}" destId="{7B39FB43-94C2-D649-B6C4-72C06907110A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93F927-3D9B-4E40-8092-CC9A89A36D91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BEB6F3-7538-4AA1-A434-F7F2920EA759}">
      <dgm:prSet/>
      <dgm:spPr/>
      <dgm:t>
        <a:bodyPr/>
        <a:lstStyle/>
        <a:p>
          <a:r>
            <a:rPr lang="en-US"/>
            <a:t>Source: Kaggle – Diabetes 130 US Hospitals Dataset</a:t>
          </a:r>
        </a:p>
      </dgm:t>
    </dgm:pt>
    <dgm:pt modelId="{DF1A49A1-1738-4679-BF4D-845ADC461496}" type="parTrans" cxnId="{4DB01865-9451-4D4D-9192-32A2A757F879}">
      <dgm:prSet/>
      <dgm:spPr/>
      <dgm:t>
        <a:bodyPr/>
        <a:lstStyle/>
        <a:p>
          <a:endParaRPr lang="en-US"/>
        </a:p>
      </dgm:t>
    </dgm:pt>
    <dgm:pt modelId="{76F3816A-F46D-44C2-A69D-83DC62ADAEC9}" type="sibTrans" cxnId="{4DB01865-9451-4D4D-9192-32A2A757F879}">
      <dgm:prSet/>
      <dgm:spPr/>
      <dgm:t>
        <a:bodyPr/>
        <a:lstStyle/>
        <a:p>
          <a:endParaRPr lang="en-US"/>
        </a:p>
      </dgm:t>
    </dgm:pt>
    <dgm:pt modelId="{3B3CF678-58B3-4C86-8716-92A1F1B2126C}">
      <dgm:prSet/>
      <dgm:spPr/>
      <dgm:t>
        <a:bodyPr/>
        <a:lstStyle/>
        <a:p>
          <a:r>
            <a:rPr lang="en-US"/>
            <a:t>Patient encounters from multiple hospitals</a:t>
          </a:r>
        </a:p>
      </dgm:t>
    </dgm:pt>
    <dgm:pt modelId="{0FC7E719-05CF-4354-B49B-EA5408A1C310}" type="parTrans" cxnId="{D43E0A7A-DF63-4B5D-B03B-E3ABB5BF44BA}">
      <dgm:prSet/>
      <dgm:spPr/>
      <dgm:t>
        <a:bodyPr/>
        <a:lstStyle/>
        <a:p>
          <a:endParaRPr lang="en-US"/>
        </a:p>
      </dgm:t>
    </dgm:pt>
    <dgm:pt modelId="{B5584B2A-3AB5-45CF-B1C9-B22F9B962FB4}" type="sibTrans" cxnId="{D43E0A7A-DF63-4B5D-B03B-E3ABB5BF44BA}">
      <dgm:prSet/>
      <dgm:spPr/>
      <dgm:t>
        <a:bodyPr/>
        <a:lstStyle/>
        <a:p>
          <a:endParaRPr lang="en-US"/>
        </a:p>
      </dgm:t>
    </dgm:pt>
    <dgm:pt modelId="{F4BBEEFC-321F-4D8A-8950-BB67BDEEFB6C}">
      <dgm:prSet/>
      <dgm:spPr/>
      <dgm:t>
        <a:bodyPr/>
        <a:lstStyle/>
        <a:p>
          <a:r>
            <a:rPr lang="en-US"/>
            <a:t>Demographics, utilization, medications, and outcomes</a:t>
          </a:r>
        </a:p>
      </dgm:t>
    </dgm:pt>
    <dgm:pt modelId="{91BFC447-CCF8-4240-A4AF-B812FF613470}" type="parTrans" cxnId="{E2D932D9-5D6B-461B-9027-B0B5C5D6AF61}">
      <dgm:prSet/>
      <dgm:spPr/>
      <dgm:t>
        <a:bodyPr/>
        <a:lstStyle/>
        <a:p>
          <a:endParaRPr lang="en-US"/>
        </a:p>
      </dgm:t>
    </dgm:pt>
    <dgm:pt modelId="{DFD3AC8A-C664-4902-86ED-0666C9BC2623}" type="sibTrans" cxnId="{E2D932D9-5D6B-461B-9027-B0B5C5D6AF61}">
      <dgm:prSet/>
      <dgm:spPr/>
      <dgm:t>
        <a:bodyPr/>
        <a:lstStyle/>
        <a:p>
          <a:endParaRPr lang="en-US"/>
        </a:p>
      </dgm:t>
    </dgm:pt>
    <dgm:pt modelId="{D3D6BC84-DF63-6B4E-88CF-ECC4A122EFE9}" type="pres">
      <dgm:prSet presAssocID="{4B93F927-3D9B-4E40-8092-CC9A89A36D9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0EBA8F-4E42-5F4F-BF7F-8C41FEDAD371}" type="pres">
      <dgm:prSet presAssocID="{83BEB6F3-7538-4AA1-A434-F7F2920EA759}" presName="hierRoot1" presStyleCnt="0"/>
      <dgm:spPr/>
    </dgm:pt>
    <dgm:pt modelId="{1FB02A7C-642A-4F43-9CE8-D39A2FA5D42B}" type="pres">
      <dgm:prSet presAssocID="{83BEB6F3-7538-4AA1-A434-F7F2920EA759}" presName="composite" presStyleCnt="0"/>
      <dgm:spPr/>
    </dgm:pt>
    <dgm:pt modelId="{D220CC0D-FB84-A941-8130-0A96499FD425}" type="pres">
      <dgm:prSet presAssocID="{83BEB6F3-7538-4AA1-A434-F7F2920EA759}" presName="background" presStyleLbl="node0" presStyleIdx="0" presStyleCnt="3"/>
      <dgm:spPr/>
    </dgm:pt>
    <dgm:pt modelId="{F57984A3-9EDD-CB42-A622-954C6C7393E7}" type="pres">
      <dgm:prSet presAssocID="{83BEB6F3-7538-4AA1-A434-F7F2920EA759}" presName="text" presStyleLbl="fgAcc0" presStyleIdx="0" presStyleCnt="3">
        <dgm:presLayoutVars>
          <dgm:chPref val="3"/>
        </dgm:presLayoutVars>
      </dgm:prSet>
      <dgm:spPr/>
    </dgm:pt>
    <dgm:pt modelId="{ABB0FA15-472F-5F46-869F-04932D93A46E}" type="pres">
      <dgm:prSet presAssocID="{83BEB6F3-7538-4AA1-A434-F7F2920EA759}" presName="hierChild2" presStyleCnt="0"/>
      <dgm:spPr/>
    </dgm:pt>
    <dgm:pt modelId="{EEBD5F7E-1FB1-1543-B476-D0C54454733B}" type="pres">
      <dgm:prSet presAssocID="{3B3CF678-58B3-4C86-8716-92A1F1B2126C}" presName="hierRoot1" presStyleCnt="0"/>
      <dgm:spPr/>
    </dgm:pt>
    <dgm:pt modelId="{3BCE13B1-0163-2C45-A3D5-040DD8C316E8}" type="pres">
      <dgm:prSet presAssocID="{3B3CF678-58B3-4C86-8716-92A1F1B2126C}" presName="composite" presStyleCnt="0"/>
      <dgm:spPr/>
    </dgm:pt>
    <dgm:pt modelId="{B610B291-ABBE-8F47-A074-19EAE44B9F44}" type="pres">
      <dgm:prSet presAssocID="{3B3CF678-58B3-4C86-8716-92A1F1B2126C}" presName="background" presStyleLbl="node0" presStyleIdx="1" presStyleCnt="3"/>
      <dgm:spPr/>
    </dgm:pt>
    <dgm:pt modelId="{7AFBACE8-51BC-6C4C-901E-7B0CD4BF3D31}" type="pres">
      <dgm:prSet presAssocID="{3B3CF678-58B3-4C86-8716-92A1F1B2126C}" presName="text" presStyleLbl="fgAcc0" presStyleIdx="1" presStyleCnt="3">
        <dgm:presLayoutVars>
          <dgm:chPref val="3"/>
        </dgm:presLayoutVars>
      </dgm:prSet>
      <dgm:spPr/>
    </dgm:pt>
    <dgm:pt modelId="{409AFDA1-A18F-4D4A-8A11-A168224525B2}" type="pres">
      <dgm:prSet presAssocID="{3B3CF678-58B3-4C86-8716-92A1F1B2126C}" presName="hierChild2" presStyleCnt="0"/>
      <dgm:spPr/>
    </dgm:pt>
    <dgm:pt modelId="{99A74861-E23E-5E40-9ECF-7983AC180040}" type="pres">
      <dgm:prSet presAssocID="{F4BBEEFC-321F-4D8A-8950-BB67BDEEFB6C}" presName="hierRoot1" presStyleCnt="0"/>
      <dgm:spPr/>
    </dgm:pt>
    <dgm:pt modelId="{0914E893-7A18-8543-9886-FDD801F73A5F}" type="pres">
      <dgm:prSet presAssocID="{F4BBEEFC-321F-4D8A-8950-BB67BDEEFB6C}" presName="composite" presStyleCnt="0"/>
      <dgm:spPr/>
    </dgm:pt>
    <dgm:pt modelId="{98C7681A-9A2C-9944-BD67-4B9E927E9787}" type="pres">
      <dgm:prSet presAssocID="{F4BBEEFC-321F-4D8A-8950-BB67BDEEFB6C}" presName="background" presStyleLbl="node0" presStyleIdx="2" presStyleCnt="3"/>
      <dgm:spPr/>
    </dgm:pt>
    <dgm:pt modelId="{2D45EF20-91B1-F348-88DA-2241CEEB05D5}" type="pres">
      <dgm:prSet presAssocID="{F4BBEEFC-321F-4D8A-8950-BB67BDEEFB6C}" presName="text" presStyleLbl="fgAcc0" presStyleIdx="2" presStyleCnt="3">
        <dgm:presLayoutVars>
          <dgm:chPref val="3"/>
        </dgm:presLayoutVars>
      </dgm:prSet>
      <dgm:spPr/>
    </dgm:pt>
    <dgm:pt modelId="{612FA873-E8B1-4248-983E-492F44C4A504}" type="pres">
      <dgm:prSet presAssocID="{F4BBEEFC-321F-4D8A-8950-BB67BDEEFB6C}" presName="hierChild2" presStyleCnt="0"/>
      <dgm:spPr/>
    </dgm:pt>
  </dgm:ptLst>
  <dgm:cxnLst>
    <dgm:cxn modelId="{23FCF616-209E-EF4D-80F3-C6879FC9CB77}" type="presOf" srcId="{83BEB6F3-7538-4AA1-A434-F7F2920EA759}" destId="{F57984A3-9EDD-CB42-A622-954C6C7393E7}" srcOrd="0" destOrd="0" presId="urn:microsoft.com/office/officeart/2005/8/layout/hierarchy1"/>
    <dgm:cxn modelId="{22C4BA22-87CE-5B43-AFFC-EA70B592854A}" type="presOf" srcId="{4B93F927-3D9B-4E40-8092-CC9A89A36D91}" destId="{D3D6BC84-DF63-6B4E-88CF-ECC4A122EFE9}" srcOrd="0" destOrd="0" presId="urn:microsoft.com/office/officeart/2005/8/layout/hierarchy1"/>
    <dgm:cxn modelId="{4DB01865-9451-4D4D-9192-32A2A757F879}" srcId="{4B93F927-3D9B-4E40-8092-CC9A89A36D91}" destId="{83BEB6F3-7538-4AA1-A434-F7F2920EA759}" srcOrd="0" destOrd="0" parTransId="{DF1A49A1-1738-4679-BF4D-845ADC461496}" sibTransId="{76F3816A-F46D-44C2-A69D-83DC62ADAEC9}"/>
    <dgm:cxn modelId="{40E87F72-4F86-684A-AD17-95E0E6202998}" type="presOf" srcId="{3B3CF678-58B3-4C86-8716-92A1F1B2126C}" destId="{7AFBACE8-51BC-6C4C-901E-7B0CD4BF3D31}" srcOrd="0" destOrd="0" presId="urn:microsoft.com/office/officeart/2005/8/layout/hierarchy1"/>
    <dgm:cxn modelId="{D43E0A7A-DF63-4B5D-B03B-E3ABB5BF44BA}" srcId="{4B93F927-3D9B-4E40-8092-CC9A89A36D91}" destId="{3B3CF678-58B3-4C86-8716-92A1F1B2126C}" srcOrd="1" destOrd="0" parTransId="{0FC7E719-05CF-4354-B49B-EA5408A1C310}" sibTransId="{B5584B2A-3AB5-45CF-B1C9-B22F9B962FB4}"/>
    <dgm:cxn modelId="{E2D932D9-5D6B-461B-9027-B0B5C5D6AF61}" srcId="{4B93F927-3D9B-4E40-8092-CC9A89A36D91}" destId="{F4BBEEFC-321F-4D8A-8950-BB67BDEEFB6C}" srcOrd="2" destOrd="0" parTransId="{91BFC447-CCF8-4240-A4AF-B812FF613470}" sibTransId="{DFD3AC8A-C664-4902-86ED-0666C9BC2623}"/>
    <dgm:cxn modelId="{64B1E0F6-AE9C-D546-926E-867210343AFE}" type="presOf" srcId="{F4BBEEFC-321F-4D8A-8950-BB67BDEEFB6C}" destId="{2D45EF20-91B1-F348-88DA-2241CEEB05D5}" srcOrd="0" destOrd="0" presId="urn:microsoft.com/office/officeart/2005/8/layout/hierarchy1"/>
    <dgm:cxn modelId="{ACF5AF75-752B-3A41-A418-1F7135C51209}" type="presParOf" srcId="{D3D6BC84-DF63-6B4E-88CF-ECC4A122EFE9}" destId="{810EBA8F-4E42-5F4F-BF7F-8C41FEDAD371}" srcOrd="0" destOrd="0" presId="urn:microsoft.com/office/officeart/2005/8/layout/hierarchy1"/>
    <dgm:cxn modelId="{B25E94F8-1EFE-0C42-A7B0-8281988CF7EB}" type="presParOf" srcId="{810EBA8F-4E42-5F4F-BF7F-8C41FEDAD371}" destId="{1FB02A7C-642A-4F43-9CE8-D39A2FA5D42B}" srcOrd="0" destOrd="0" presId="urn:microsoft.com/office/officeart/2005/8/layout/hierarchy1"/>
    <dgm:cxn modelId="{A3C092DC-DFCB-4142-AA01-DC9BCBF3212C}" type="presParOf" srcId="{1FB02A7C-642A-4F43-9CE8-D39A2FA5D42B}" destId="{D220CC0D-FB84-A941-8130-0A96499FD425}" srcOrd="0" destOrd="0" presId="urn:microsoft.com/office/officeart/2005/8/layout/hierarchy1"/>
    <dgm:cxn modelId="{EAA8D1C5-4F55-E448-A5D7-699EA109580B}" type="presParOf" srcId="{1FB02A7C-642A-4F43-9CE8-D39A2FA5D42B}" destId="{F57984A3-9EDD-CB42-A622-954C6C7393E7}" srcOrd="1" destOrd="0" presId="urn:microsoft.com/office/officeart/2005/8/layout/hierarchy1"/>
    <dgm:cxn modelId="{19EB2B39-AB49-7F4D-BC73-BE82546DE120}" type="presParOf" srcId="{810EBA8F-4E42-5F4F-BF7F-8C41FEDAD371}" destId="{ABB0FA15-472F-5F46-869F-04932D93A46E}" srcOrd="1" destOrd="0" presId="urn:microsoft.com/office/officeart/2005/8/layout/hierarchy1"/>
    <dgm:cxn modelId="{67C31F8E-B6F0-C54C-870C-6A76C8CBAAFE}" type="presParOf" srcId="{D3D6BC84-DF63-6B4E-88CF-ECC4A122EFE9}" destId="{EEBD5F7E-1FB1-1543-B476-D0C54454733B}" srcOrd="1" destOrd="0" presId="urn:microsoft.com/office/officeart/2005/8/layout/hierarchy1"/>
    <dgm:cxn modelId="{9F75E784-E872-604E-BB91-DB570A7CF3CA}" type="presParOf" srcId="{EEBD5F7E-1FB1-1543-B476-D0C54454733B}" destId="{3BCE13B1-0163-2C45-A3D5-040DD8C316E8}" srcOrd="0" destOrd="0" presId="urn:microsoft.com/office/officeart/2005/8/layout/hierarchy1"/>
    <dgm:cxn modelId="{06A2365C-D9B9-5A4C-A4AF-88F45BD60BC5}" type="presParOf" srcId="{3BCE13B1-0163-2C45-A3D5-040DD8C316E8}" destId="{B610B291-ABBE-8F47-A074-19EAE44B9F44}" srcOrd="0" destOrd="0" presId="urn:microsoft.com/office/officeart/2005/8/layout/hierarchy1"/>
    <dgm:cxn modelId="{EE14F949-AB0C-2E43-A91F-AD7EA00656B1}" type="presParOf" srcId="{3BCE13B1-0163-2C45-A3D5-040DD8C316E8}" destId="{7AFBACE8-51BC-6C4C-901E-7B0CD4BF3D31}" srcOrd="1" destOrd="0" presId="urn:microsoft.com/office/officeart/2005/8/layout/hierarchy1"/>
    <dgm:cxn modelId="{D66ABAC8-AAF8-854C-8718-1A4C7E15E585}" type="presParOf" srcId="{EEBD5F7E-1FB1-1543-B476-D0C54454733B}" destId="{409AFDA1-A18F-4D4A-8A11-A168224525B2}" srcOrd="1" destOrd="0" presId="urn:microsoft.com/office/officeart/2005/8/layout/hierarchy1"/>
    <dgm:cxn modelId="{379FD92F-2C9B-0B40-ABDD-2FCA9BF7D663}" type="presParOf" srcId="{D3D6BC84-DF63-6B4E-88CF-ECC4A122EFE9}" destId="{99A74861-E23E-5E40-9ECF-7983AC180040}" srcOrd="2" destOrd="0" presId="urn:microsoft.com/office/officeart/2005/8/layout/hierarchy1"/>
    <dgm:cxn modelId="{1669C694-0195-5B4F-8A18-F8B6ADB44E59}" type="presParOf" srcId="{99A74861-E23E-5E40-9ECF-7983AC180040}" destId="{0914E893-7A18-8543-9886-FDD801F73A5F}" srcOrd="0" destOrd="0" presId="urn:microsoft.com/office/officeart/2005/8/layout/hierarchy1"/>
    <dgm:cxn modelId="{BACBB636-A75E-AA45-BA43-019D87ED76F1}" type="presParOf" srcId="{0914E893-7A18-8543-9886-FDD801F73A5F}" destId="{98C7681A-9A2C-9944-BD67-4B9E927E9787}" srcOrd="0" destOrd="0" presId="urn:microsoft.com/office/officeart/2005/8/layout/hierarchy1"/>
    <dgm:cxn modelId="{BD86B6A6-EE1A-1548-AF0C-018F032D65BC}" type="presParOf" srcId="{0914E893-7A18-8543-9886-FDD801F73A5F}" destId="{2D45EF20-91B1-F348-88DA-2241CEEB05D5}" srcOrd="1" destOrd="0" presId="urn:microsoft.com/office/officeart/2005/8/layout/hierarchy1"/>
    <dgm:cxn modelId="{665733C5-B704-7B48-A3BF-015D91387200}" type="presParOf" srcId="{99A74861-E23E-5E40-9ECF-7983AC180040}" destId="{612FA873-E8B1-4248-983E-492F44C4A5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665805-3C1B-4A66-B2BE-0331E94CF6EF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91FAA8-9BA2-4A4B-91B9-19AB0FBC91DF}">
      <dgm:prSet/>
      <dgm:spPr/>
      <dgm:t>
        <a:bodyPr/>
        <a:lstStyle/>
        <a:p>
          <a:r>
            <a:rPr lang="en-US"/>
            <a:t>Handled missing values and removed duplicates</a:t>
          </a:r>
        </a:p>
      </dgm:t>
    </dgm:pt>
    <dgm:pt modelId="{00707EB0-0561-45ED-8689-BDA7FF0041EE}" type="parTrans" cxnId="{2E1C82C7-DF9C-45F9-9893-A886856F3BCD}">
      <dgm:prSet/>
      <dgm:spPr/>
      <dgm:t>
        <a:bodyPr/>
        <a:lstStyle/>
        <a:p>
          <a:endParaRPr lang="en-US"/>
        </a:p>
      </dgm:t>
    </dgm:pt>
    <dgm:pt modelId="{1CDA1EBB-CD83-4929-A318-5F8F9CA61C7C}" type="sibTrans" cxnId="{2E1C82C7-DF9C-45F9-9893-A886856F3BCD}">
      <dgm:prSet/>
      <dgm:spPr/>
      <dgm:t>
        <a:bodyPr/>
        <a:lstStyle/>
        <a:p>
          <a:endParaRPr lang="en-US"/>
        </a:p>
      </dgm:t>
    </dgm:pt>
    <dgm:pt modelId="{CB0EF97A-CFFE-4E50-BEBB-44FFAA44AC71}">
      <dgm:prSet/>
      <dgm:spPr/>
      <dgm:t>
        <a:bodyPr/>
        <a:lstStyle/>
        <a:p>
          <a:r>
            <a:rPr lang="en-US"/>
            <a:t>Analyzed numeric and categorical feature distributions</a:t>
          </a:r>
        </a:p>
      </dgm:t>
    </dgm:pt>
    <dgm:pt modelId="{0B77F05F-6C27-4CEE-A21A-D30C34069DB6}" type="parTrans" cxnId="{9A89C7F3-F451-4B7A-9F9E-C1FFCC66877C}">
      <dgm:prSet/>
      <dgm:spPr/>
      <dgm:t>
        <a:bodyPr/>
        <a:lstStyle/>
        <a:p>
          <a:endParaRPr lang="en-US"/>
        </a:p>
      </dgm:t>
    </dgm:pt>
    <dgm:pt modelId="{EDE07ABE-368D-44B2-A9B9-EFF252DF425C}" type="sibTrans" cxnId="{9A89C7F3-F451-4B7A-9F9E-C1FFCC66877C}">
      <dgm:prSet/>
      <dgm:spPr/>
      <dgm:t>
        <a:bodyPr/>
        <a:lstStyle/>
        <a:p>
          <a:endParaRPr lang="en-US"/>
        </a:p>
      </dgm:t>
    </dgm:pt>
    <dgm:pt modelId="{83A558B3-D4E6-4975-BB41-301AE88FD226}">
      <dgm:prSet/>
      <dgm:spPr/>
      <dgm:t>
        <a:bodyPr/>
        <a:lstStyle/>
        <a:p>
          <a:r>
            <a:rPr lang="en-US"/>
            <a:t>Identified outliers related to high utilization patients</a:t>
          </a:r>
        </a:p>
      </dgm:t>
    </dgm:pt>
    <dgm:pt modelId="{12DF6405-B19B-4556-BD3B-04E84E86BCC0}" type="parTrans" cxnId="{6AF2594C-CAE2-4B56-B637-CB34CCA9D3FB}">
      <dgm:prSet/>
      <dgm:spPr/>
      <dgm:t>
        <a:bodyPr/>
        <a:lstStyle/>
        <a:p>
          <a:endParaRPr lang="en-US"/>
        </a:p>
      </dgm:t>
    </dgm:pt>
    <dgm:pt modelId="{E0139241-8611-45D3-B166-800364C538D5}" type="sibTrans" cxnId="{6AF2594C-CAE2-4B56-B637-CB34CCA9D3FB}">
      <dgm:prSet/>
      <dgm:spPr/>
      <dgm:t>
        <a:bodyPr/>
        <a:lstStyle/>
        <a:p>
          <a:endParaRPr lang="en-US"/>
        </a:p>
      </dgm:t>
    </dgm:pt>
    <dgm:pt modelId="{5F13AC4C-27BA-8546-B5BC-EED33B1100F3}" type="pres">
      <dgm:prSet presAssocID="{C9665805-3C1B-4A66-B2BE-0331E94CF6EF}" presName="outerComposite" presStyleCnt="0">
        <dgm:presLayoutVars>
          <dgm:chMax val="5"/>
          <dgm:dir/>
          <dgm:resizeHandles val="exact"/>
        </dgm:presLayoutVars>
      </dgm:prSet>
      <dgm:spPr/>
    </dgm:pt>
    <dgm:pt modelId="{0E53EE19-0F2F-EA4D-9A93-930C3BDBA19B}" type="pres">
      <dgm:prSet presAssocID="{C9665805-3C1B-4A66-B2BE-0331E94CF6EF}" presName="dummyMaxCanvas" presStyleCnt="0">
        <dgm:presLayoutVars/>
      </dgm:prSet>
      <dgm:spPr/>
    </dgm:pt>
    <dgm:pt modelId="{45151E5C-1420-B644-9D80-142233873DEE}" type="pres">
      <dgm:prSet presAssocID="{C9665805-3C1B-4A66-B2BE-0331E94CF6EF}" presName="ThreeNodes_1" presStyleLbl="node1" presStyleIdx="0" presStyleCnt="3">
        <dgm:presLayoutVars>
          <dgm:bulletEnabled val="1"/>
        </dgm:presLayoutVars>
      </dgm:prSet>
      <dgm:spPr/>
    </dgm:pt>
    <dgm:pt modelId="{41815264-CB35-3F46-8AEB-CE8C27F73538}" type="pres">
      <dgm:prSet presAssocID="{C9665805-3C1B-4A66-B2BE-0331E94CF6EF}" presName="ThreeNodes_2" presStyleLbl="node1" presStyleIdx="1" presStyleCnt="3">
        <dgm:presLayoutVars>
          <dgm:bulletEnabled val="1"/>
        </dgm:presLayoutVars>
      </dgm:prSet>
      <dgm:spPr/>
    </dgm:pt>
    <dgm:pt modelId="{B53955B7-2A68-4640-9B5F-22D31A80AC64}" type="pres">
      <dgm:prSet presAssocID="{C9665805-3C1B-4A66-B2BE-0331E94CF6EF}" presName="ThreeNodes_3" presStyleLbl="node1" presStyleIdx="2" presStyleCnt="3">
        <dgm:presLayoutVars>
          <dgm:bulletEnabled val="1"/>
        </dgm:presLayoutVars>
      </dgm:prSet>
      <dgm:spPr/>
    </dgm:pt>
    <dgm:pt modelId="{7CE1DB03-5BD8-0E45-A320-2AE86D9DCFC0}" type="pres">
      <dgm:prSet presAssocID="{C9665805-3C1B-4A66-B2BE-0331E94CF6EF}" presName="ThreeConn_1-2" presStyleLbl="fgAccFollowNode1" presStyleIdx="0" presStyleCnt="2">
        <dgm:presLayoutVars>
          <dgm:bulletEnabled val="1"/>
        </dgm:presLayoutVars>
      </dgm:prSet>
      <dgm:spPr/>
    </dgm:pt>
    <dgm:pt modelId="{88CD0550-BFE6-7140-82E2-A4CA5172D235}" type="pres">
      <dgm:prSet presAssocID="{C9665805-3C1B-4A66-B2BE-0331E94CF6EF}" presName="ThreeConn_2-3" presStyleLbl="fgAccFollowNode1" presStyleIdx="1" presStyleCnt="2">
        <dgm:presLayoutVars>
          <dgm:bulletEnabled val="1"/>
        </dgm:presLayoutVars>
      </dgm:prSet>
      <dgm:spPr/>
    </dgm:pt>
    <dgm:pt modelId="{1E5386E4-2871-5A4F-939C-37AB329385A6}" type="pres">
      <dgm:prSet presAssocID="{C9665805-3C1B-4A66-B2BE-0331E94CF6EF}" presName="ThreeNodes_1_text" presStyleLbl="node1" presStyleIdx="2" presStyleCnt="3">
        <dgm:presLayoutVars>
          <dgm:bulletEnabled val="1"/>
        </dgm:presLayoutVars>
      </dgm:prSet>
      <dgm:spPr/>
    </dgm:pt>
    <dgm:pt modelId="{31E1D463-43C4-7445-B3A7-E76A81C5ECCB}" type="pres">
      <dgm:prSet presAssocID="{C9665805-3C1B-4A66-B2BE-0331E94CF6EF}" presName="ThreeNodes_2_text" presStyleLbl="node1" presStyleIdx="2" presStyleCnt="3">
        <dgm:presLayoutVars>
          <dgm:bulletEnabled val="1"/>
        </dgm:presLayoutVars>
      </dgm:prSet>
      <dgm:spPr/>
    </dgm:pt>
    <dgm:pt modelId="{E6AAF1F2-CCDB-EC49-BE58-740F0FC975CD}" type="pres">
      <dgm:prSet presAssocID="{C9665805-3C1B-4A66-B2BE-0331E94CF6E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BC76502-6FA1-2A4C-98EC-3CB3D729C649}" type="presOf" srcId="{1CDA1EBB-CD83-4929-A318-5F8F9CA61C7C}" destId="{7CE1DB03-5BD8-0E45-A320-2AE86D9DCFC0}" srcOrd="0" destOrd="0" presId="urn:microsoft.com/office/officeart/2005/8/layout/vProcess5"/>
    <dgm:cxn modelId="{6AF2594C-CAE2-4B56-B637-CB34CCA9D3FB}" srcId="{C9665805-3C1B-4A66-B2BE-0331E94CF6EF}" destId="{83A558B3-D4E6-4975-BB41-301AE88FD226}" srcOrd="2" destOrd="0" parTransId="{12DF6405-B19B-4556-BD3B-04E84E86BCC0}" sibTransId="{E0139241-8611-45D3-B166-800364C538D5}"/>
    <dgm:cxn modelId="{5ACCF352-33A5-BA48-8F6D-D54FADE34E97}" type="presOf" srcId="{83A558B3-D4E6-4975-BB41-301AE88FD226}" destId="{B53955B7-2A68-4640-9B5F-22D31A80AC64}" srcOrd="0" destOrd="0" presId="urn:microsoft.com/office/officeart/2005/8/layout/vProcess5"/>
    <dgm:cxn modelId="{3759185C-6F1B-ED40-B2F1-83AE5953AF69}" type="presOf" srcId="{A291FAA8-9BA2-4A4B-91B9-19AB0FBC91DF}" destId="{1E5386E4-2871-5A4F-939C-37AB329385A6}" srcOrd="1" destOrd="0" presId="urn:microsoft.com/office/officeart/2005/8/layout/vProcess5"/>
    <dgm:cxn modelId="{9FB8CE7D-5BEE-874C-B88A-93B34528811F}" type="presOf" srcId="{CB0EF97A-CFFE-4E50-BEBB-44FFAA44AC71}" destId="{31E1D463-43C4-7445-B3A7-E76A81C5ECCB}" srcOrd="1" destOrd="0" presId="urn:microsoft.com/office/officeart/2005/8/layout/vProcess5"/>
    <dgm:cxn modelId="{DC458BAB-69CC-8945-9992-728606AA1913}" type="presOf" srcId="{83A558B3-D4E6-4975-BB41-301AE88FD226}" destId="{E6AAF1F2-CCDB-EC49-BE58-740F0FC975CD}" srcOrd="1" destOrd="0" presId="urn:microsoft.com/office/officeart/2005/8/layout/vProcess5"/>
    <dgm:cxn modelId="{561BEAAF-D69D-6B4D-8B65-F8C64510EC9E}" type="presOf" srcId="{A291FAA8-9BA2-4A4B-91B9-19AB0FBC91DF}" destId="{45151E5C-1420-B644-9D80-142233873DEE}" srcOrd="0" destOrd="0" presId="urn:microsoft.com/office/officeart/2005/8/layout/vProcess5"/>
    <dgm:cxn modelId="{69DCE5C3-05E6-DE44-AF0C-8A6934005C17}" type="presOf" srcId="{EDE07ABE-368D-44B2-A9B9-EFF252DF425C}" destId="{88CD0550-BFE6-7140-82E2-A4CA5172D235}" srcOrd="0" destOrd="0" presId="urn:microsoft.com/office/officeart/2005/8/layout/vProcess5"/>
    <dgm:cxn modelId="{2E1C82C7-DF9C-45F9-9893-A886856F3BCD}" srcId="{C9665805-3C1B-4A66-B2BE-0331E94CF6EF}" destId="{A291FAA8-9BA2-4A4B-91B9-19AB0FBC91DF}" srcOrd="0" destOrd="0" parTransId="{00707EB0-0561-45ED-8689-BDA7FF0041EE}" sibTransId="{1CDA1EBB-CD83-4929-A318-5F8F9CA61C7C}"/>
    <dgm:cxn modelId="{2B9B37D4-15C0-1D46-8081-1EAB3D8BA43E}" type="presOf" srcId="{CB0EF97A-CFFE-4E50-BEBB-44FFAA44AC71}" destId="{41815264-CB35-3F46-8AEB-CE8C27F73538}" srcOrd="0" destOrd="0" presId="urn:microsoft.com/office/officeart/2005/8/layout/vProcess5"/>
    <dgm:cxn modelId="{752B05DE-834C-AE42-A1DA-8E0F6F49A478}" type="presOf" srcId="{C9665805-3C1B-4A66-B2BE-0331E94CF6EF}" destId="{5F13AC4C-27BA-8546-B5BC-EED33B1100F3}" srcOrd="0" destOrd="0" presId="urn:microsoft.com/office/officeart/2005/8/layout/vProcess5"/>
    <dgm:cxn modelId="{9A89C7F3-F451-4B7A-9F9E-C1FFCC66877C}" srcId="{C9665805-3C1B-4A66-B2BE-0331E94CF6EF}" destId="{CB0EF97A-CFFE-4E50-BEBB-44FFAA44AC71}" srcOrd="1" destOrd="0" parTransId="{0B77F05F-6C27-4CEE-A21A-D30C34069DB6}" sibTransId="{EDE07ABE-368D-44B2-A9B9-EFF252DF425C}"/>
    <dgm:cxn modelId="{2B789DED-B481-8C49-8F53-87AC836C384A}" type="presParOf" srcId="{5F13AC4C-27BA-8546-B5BC-EED33B1100F3}" destId="{0E53EE19-0F2F-EA4D-9A93-930C3BDBA19B}" srcOrd="0" destOrd="0" presId="urn:microsoft.com/office/officeart/2005/8/layout/vProcess5"/>
    <dgm:cxn modelId="{B6FDB94B-1BB3-FB43-B259-7F6266958E79}" type="presParOf" srcId="{5F13AC4C-27BA-8546-B5BC-EED33B1100F3}" destId="{45151E5C-1420-B644-9D80-142233873DEE}" srcOrd="1" destOrd="0" presId="urn:microsoft.com/office/officeart/2005/8/layout/vProcess5"/>
    <dgm:cxn modelId="{41BE6A6C-3FF1-AE47-8797-42E639FB907A}" type="presParOf" srcId="{5F13AC4C-27BA-8546-B5BC-EED33B1100F3}" destId="{41815264-CB35-3F46-8AEB-CE8C27F73538}" srcOrd="2" destOrd="0" presId="urn:microsoft.com/office/officeart/2005/8/layout/vProcess5"/>
    <dgm:cxn modelId="{01B0EC96-B320-1045-BD3A-689B0676B58D}" type="presParOf" srcId="{5F13AC4C-27BA-8546-B5BC-EED33B1100F3}" destId="{B53955B7-2A68-4640-9B5F-22D31A80AC64}" srcOrd="3" destOrd="0" presId="urn:microsoft.com/office/officeart/2005/8/layout/vProcess5"/>
    <dgm:cxn modelId="{646CF4C2-3920-2749-910D-07070616E68A}" type="presParOf" srcId="{5F13AC4C-27BA-8546-B5BC-EED33B1100F3}" destId="{7CE1DB03-5BD8-0E45-A320-2AE86D9DCFC0}" srcOrd="4" destOrd="0" presId="urn:microsoft.com/office/officeart/2005/8/layout/vProcess5"/>
    <dgm:cxn modelId="{FFD11D9A-A2B9-BD40-92FB-1B6A1DF6B357}" type="presParOf" srcId="{5F13AC4C-27BA-8546-B5BC-EED33B1100F3}" destId="{88CD0550-BFE6-7140-82E2-A4CA5172D235}" srcOrd="5" destOrd="0" presId="urn:microsoft.com/office/officeart/2005/8/layout/vProcess5"/>
    <dgm:cxn modelId="{5278F5E6-7DD1-8C4C-8578-7C78857AF29C}" type="presParOf" srcId="{5F13AC4C-27BA-8546-B5BC-EED33B1100F3}" destId="{1E5386E4-2871-5A4F-939C-37AB329385A6}" srcOrd="6" destOrd="0" presId="urn:microsoft.com/office/officeart/2005/8/layout/vProcess5"/>
    <dgm:cxn modelId="{66FACA67-FE06-8C43-A87F-28025A902C86}" type="presParOf" srcId="{5F13AC4C-27BA-8546-B5BC-EED33B1100F3}" destId="{31E1D463-43C4-7445-B3A7-E76A81C5ECCB}" srcOrd="7" destOrd="0" presId="urn:microsoft.com/office/officeart/2005/8/layout/vProcess5"/>
    <dgm:cxn modelId="{D278FB44-B1EB-1845-A144-2678C093E0CB}" type="presParOf" srcId="{5F13AC4C-27BA-8546-B5BC-EED33B1100F3}" destId="{E6AAF1F2-CCDB-EC49-BE58-740F0FC975C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2E196-E4A1-8047-B0E3-CF73715AC326}">
      <dsp:nvSpPr>
        <dsp:cNvPr id="0" name=""/>
        <dsp:cNvSpPr/>
      </dsp:nvSpPr>
      <dsp:spPr>
        <a:xfrm>
          <a:off x="3242390" y="568194"/>
          <a:ext cx="4390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3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0165" y="611566"/>
        <a:ext cx="23481" cy="4696"/>
      </dsp:txXfrm>
    </dsp:sp>
    <dsp:sp modelId="{0A1DD3D2-9D9B-EE4B-933C-1CFB5665A203}">
      <dsp:nvSpPr>
        <dsp:cNvPr id="0" name=""/>
        <dsp:cNvSpPr/>
      </dsp:nvSpPr>
      <dsp:spPr>
        <a:xfrm>
          <a:off x="1202312" y="1351"/>
          <a:ext cx="2041877" cy="122512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54" tIns="105024" rIns="100054" bIns="10502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 likelihood of 30-day readmission for diabetic patients</a:t>
          </a:r>
        </a:p>
      </dsp:txBody>
      <dsp:txXfrm>
        <a:off x="1202312" y="1351"/>
        <a:ext cx="2041877" cy="1225126"/>
      </dsp:txXfrm>
    </dsp:sp>
    <dsp:sp modelId="{0BE4983B-72F4-DF48-8982-0871E0CB7A0D}">
      <dsp:nvSpPr>
        <dsp:cNvPr id="0" name=""/>
        <dsp:cNvSpPr/>
      </dsp:nvSpPr>
      <dsp:spPr>
        <a:xfrm>
          <a:off x="2223251" y="1224677"/>
          <a:ext cx="2511509" cy="439031"/>
        </a:xfrm>
        <a:custGeom>
          <a:avLst/>
          <a:gdLst/>
          <a:ahLst/>
          <a:cxnLst/>
          <a:rect l="0" t="0" r="0" b="0"/>
          <a:pathLst>
            <a:path>
              <a:moveTo>
                <a:pt x="2511509" y="0"/>
              </a:moveTo>
              <a:lnTo>
                <a:pt x="2511509" y="236615"/>
              </a:lnTo>
              <a:lnTo>
                <a:pt x="0" y="236615"/>
              </a:lnTo>
              <a:lnTo>
                <a:pt x="0" y="439031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5129" y="1441845"/>
        <a:ext cx="127752" cy="4696"/>
      </dsp:txXfrm>
    </dsp:sp>
    <dsp:sp modelId="{078E5EC1-44C3-2E4F-9A52-7EE6A72D3A3E}">
      <dsp:nvSpPr>
        <dsp:cNvPr id="0" name=""/>
        <dsp:cNvSpPr/>
      </dsp:nvSpPr>
      <dsp:spPr>
        <a:xfrm>
          <a:off x="3713821" y="1351"/>
          <a:ext cx="2041877" cy="122512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54" tIns="105024" rIns="100054" bIns="10502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historical hospital encounter data</a:t>
          </a:r>
        </a:p>
      </dsp:txBody>
      <dsp:txXfrm>
        <a:off x="3713821" y="1351"/>
        <a:ext cx="2041877" cy="1225126"/>
      </dsp:txXfrm>
    </dsp:sp>
    <dsp:sp modelId="{7B39FB43-94C2-D649-B6C4-72C06907110A}">
      <dsp:nvSpPr>
        <dsp:cNvPr id="0" name=""/>
        <dsp:cNvSpPr/>
      </dsp:nvSpPr>
      <dsp:spPr>
        <a:xfrm>
          <a:off x="1202312" y="1696109"/>
          <a:ext cx="2041877" cy="122512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54" tIns="105024" rIns="100054" bIns="105024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proactive, risk-based interventions</a:t>
          </a:r>
        </a:p>
      </dsp:txBody>
      <dsp:txXfrm>
        <a:off x="1202312" y="1696109"/>
        <a:ext cx="2041877" cy="12251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0CC0D-FB84-A941-8130-0A96499FD425}">
      <dsp:nvSpPr>
        <dsp:cNvPr id="0" name=""/>
        <dsp:cNvSpPr/>
      </dsp:nvSpPr>
      <dsp:spPr>
        <a:xfrm>
          <a:off x="0" y="774611"/>
          <a:ext cx="2146858" cy="13632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7984A3-9EDD-CB42-A622-954C6C7393E7}">
      <dsp:nvSpPr>
        <dsp:cNvPr id="0" name=""/>
        <dsp:cNvSpPr/>
      </dsp:nvSpPr>
      <dsp:spPr>
        <a:xfrm>
          <a:off x="238539" y="1001223"/>
          <a:ext cx="2146858" cy="1363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Source: Kaggle – Diabetes 130 US Hospitals Dataset</a:t>
          </a:r>
        </a:p>
      </dsp:txBody>
      <dsp:txXfrm>
        <a:off x="278467" y="1041151"/>
        <a:ext cx="2067002" cy="1283399"/>
      </dsp:txXfrm>
    </dsp:sp>
    <dsp:sp modelId="{B610B291-ABBE-8F47-A074-19EAE44B9F44}">
      <dsp:nvSpPr>
        <dsp:cNvPr id="0" name=""/>
        <dsp:cNvSpPr/>
      </dsp:nvSpPr>
      <dsp:spPr>
        <a:xfrm>
          <a:off x="2623937" y="774611"/>
          <a:ext cx="2146858" cy="13632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FBACE8-51BC-6C4C-901E-7B0CD4BF3D31}">
      <dsp:nvSpPr>
        <dsp:cNvPr id="0" name=""/>
        <dsp:cNvSpPr/>
      </dsp:nvSpPr>
      <dsp:spPr>
        <a:xfrm>
          <a:off x="2862477" y="1001223"/>
          <a:ext cx="2146858" cy="1363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Patient encounters from multiple hospitals</a:t>
          </a:r>
        </a:p>
      </dsp:txBody>
      <dsp:txXfrm>
        <a:off x="2902405" y="1041151"/>
        <a:ext cx="2067002" cy="1283399"/>
      </dsp:txXfrm>
    </dsp:sp>
    <dsp:sp modelId="{98C7681A-9A2C-9944-BD67-4B9E927E9787}">
      <dsp:nvSpPr>
        <dsp:cNvPr id="0" name=""/>
        <dsp:cNvSpPr/>
      </dsp:nvSpPr>
      <dsp:spPr>
        <a:xfrm>
          <a:off x="5247875" y="774611"/>
          <a:ext cx="2146858" cy="13632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45EF20-91B1-F348-88DA-2241CEEB05D5}">
      <dsp:nvSpPr>
        <dsp:cNvPr id="0" name=""/>
        <dsp:cNvSpPr/>
      </dsp:nvSpPr>
      <dsp:spPr>
        <a:xfrm>
          <a:off x="5486415" y="1001223"/>
          <a:ext cx="2146858" cy="1363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Demographics, utilization, medications, and outcomes</a:t>
          </a:r>
        </a:p>
      </dsp:txBody>
      <dsp:txXfrm>
        <a:off x="5526343" y="1041151"/>
        <a:ext cx="2067002" cy="1283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51E5C-1420-B644-9D80-142233873DEE}">
      <dsp:nvSpPr>
        <dsp:cNvPr id="0" name=""/>
        <dsp:cNvSpPr/>
      </dsp:nvSpPr>
      <dsp:spPr>
        <a:xfrm>
          <a:off x="0" y="0"/>
          <a:ext cx="6488282" cy="9417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Handled missing values and removed duplicates</a:t>
          </a:r>
        </a:p>
      </dsp:txBody>
      <dsp:txXfrm>
        <a:off x="27582" y="27582"/>
        <a:ext cx="5472086" cy="886563"/>
      </dsp:txXfrm>
    </dsp:sp>
    <dsp:sp modelId="{41815264-CB35-3F46-8AEB-CE8C27F73538}">
      <dsp:nvSpPr>
        <dsp:cNvPr id="0" name=""/>
        <dsp:cNvSpPr/>
      </dsp:nvSpPr>
      <dsp:spPr>
        <a:xfrm>
          <a:off x="572495" y="1098681"/>
          <a:ext cx="6488282" cy="9417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Analyzed numeric and categorical feature distributions</a:t>
          </a:r>
        </a:p>
      </dsp:txBody>
      <dsp:txXfrm>
        <a:off x="600077" y="1126263"/>
        <a:ext cx="5248500" cy="886562"/>
      </dsp:txXfrm>
    </dsp:sp>
    <dsp:sp modelId="{B53955B7-2A68-4640-9B5F-22D31A80AC64}">
      <dsp:nvSpPr>
        <dsp:cNvPr id="0" name=""/>
        <dsp:cNvSpPr/>
      </dsp:nvSpPr>
      <dsp:spPr>
        <a:xfrm>
          <a:off x="1144991" y="2197363"/>
          <a:ext cx="6488282" cy="9417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Identified outliers related to high utilization patients</a:t>
          </a:r>
        </a:p>
      </dsp:txBody>
      <dsp:txXfrm>
        <a:off x="1172573" y="2224945"/>
        <a:ext cx="5248500" cy="886562"/>
      </dsp:txXfrm>
    </dsp:sp>
    <dsp:sp modelId="{7CE1DB03-5BD8-0E45-A320-2AE86D9DCFC0}">
      <dsp:nvSpPr>
        <dsp:cNvPr id="0" name=""/>
        <dsp:cNvSpPr/>
      </dsp:nvSpPr>
      <dsp:spPr>
        <a:xfrm>
          <a:off x="5876160" y="714142"/>
          <a:ext cx="612122" cy="61212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013887" y="714142"/>
        <a:ext cx="336668" cy="460622"/>
      </dsp:txXfrm>
    </dsp:sp>
    <dsp:sp modelId="{88CD0550-BFE6-7140-82E2-A4CA5172D235}">
      <dsp:nvSpPr>
        <dsp:cNvPr id="0" name=""/>
        <dsp:cNvSpPr/>
      </dsp:nvSpPr>
      <dsp:spPr>
        <a:xfrm>
          <a:off x="6448655" y="1806546"/>
          <a:ext cx="612122" cy="61212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586382" y="1806546"/>
        <a:ext cx="336668" cy="460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21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5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6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9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7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0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6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0571C-5D2D-300F-8A5F-7103E3CFEB0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67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5822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898" y="2490283"/>
            <a:ext cx="4201787" cy="1877437"/>
          </a:xfrm>
        </p:spPr>
        <p:txBody>
          <a:bodyPr>
            <a:normAutofit/>
          </a:bodyPr>
          <a:lstStyle/>
          <a:p>
            <a:r>
              <a:rPr lang="en-US" sz="2200"/>
              <a:t>Predicting 30-Day Hospital Readmission Risk</a:t>
            </a:r>
          </a:p>
          <a:p>
            <a:r>
              <a:rPr lang="en-US" sz="2200"/>
              <a:t>in Diabetic Patients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040EF-32B8-46F3-823C-6BA3A49A7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7404" y="2173266"/>
            <a:ext cx="2742840" cy="251146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Capstone Project</a:t>
            </a:r>
          </a:p>
          <a:p>
            <a:r>
              <a:rPr lang="en-US">
                <a:solidFill>
                  <a:schemeClr val="bg1">
                    <a:lumMod val="75000"/>
                    <a:lumOff val="25000"/>
                  </a:schemeClr>
                </a:solidFill>
              </a:rPr>
              <a:t>Machine Learning for Healthcare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1914F9-AC57-4DC9-9880-34BD31ED4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6295" y="-2"/>
            <a:ext cx="515770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9799" y="1290025"/>
            <a:ext cx="3968495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Business 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E39C3-D98C-4170-A753-F127B8F06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748" y="640080"/>
            <a:ext cx="301294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5B689F-EA23-43D5-AD66-CF020C944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2335" y="806357"/>
            <a:ext cx="276377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octor">
            <a:extLst>
              <a:ext uri="{FF2B5EF4-FFF2-40B4-BE49-F238E27FC236}">
                <a16:creationId xmlns:a16="http://schemas.microsoft.com/office/drawing/2014/main" id="{E72BB3BA-0E94-7709-8CA9-1270911CD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779" y="2012222"/>
            <a:ext cx="2516886" cy="25168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9799" y="2858703"/>
            <a:ext cx="3964343" cy="3042547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FFFFFF"/>
                </a:solidFill>
              </a:rPr>
              <a:t>Hospital readmissions within 30 days are costly and often preventable</a:t>
            </a:r>
          </a:p>
          <a:p>
            <a:pPr>
              <a:defRPr sz="1600"/>
            </a:pPr>
            <a:r>
              <a:rPr lang="en-US" sz="1600">
                <a:solidFill>
                  <a:srgbClr val="FFFFFF"/>
                </a:solidFill>
              </a:rPr>
              <a:t>Diabetic patients have complex care and higher readmission risk</a:t>
            </a:r>
          </a:p>
          <a:p>
            <a:pPr>
              <a:defRPr sz="1600"/>
            </a:pPr>
            <a:r>
              <a:rPr lang="en-US" sz="1600">
                <a:solidFill>
                  <a:srgbClr val="FFFFFF"/>
                </a:solidFill>
              </a:rPr>
              <a:t>Hospitals need a way to identify high-risk patients before discharge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D79F51-F048-4043-978D-55E2F86DE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958898"/>
            <a:ext cx="7694803" cy="4933902"/>
          </a:xfrm>
          <a:prstGeom prst="rect">
            <a:avLst/>
          </a:prstGeom>
          <a:solidFill>
            <a:schemeClr val="bg1">
              <a:alpha val="15000"/>
            </a:schemeClr>
          </a:solidFill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D4274B-061B-4412-BE8A-253EBB0E8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7407" y="1121561"/>
            <a:ext cx="7447788" cy="46085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707" y="1246909"/>
            <a:ext cx="6980484" cy="903895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t>Project Objective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9F27E98-6036-7D03-63FA-3E1851D20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033567"/>
              </p:ext>
            </p:extLst>
          </p:nvPr>
        </p:nvGraphicFramePr>
        <p:xfrm>
          <a:off x="1088231" y="2497138"/>
          <a:ext cx="6958012" cy="2922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39285D-B917-01AB-75EB-94878075F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587938"/>
              </p:ext>
            </p:extLst>
          </p:nvPr>
        </p:nvGraphicFramePr>
        <p:xfrm>
          <a:off x="710238" y="2638425"/>
          <a:ext cx="7633274" cy="3139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3764AE-D7B7-4CB5-A0E1-2885E459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72" y="2900210"/>
            <a:ext cx="2708018" cy="1071062"/>
          </a:xfr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>
                    <a:lumMod val="95000"/>
                    <a:lumOff val="5000"/>
                  </a:schemeClr>
                </a:solidFill>
              </a:rPr>
              <a:t>Target Variable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9C095C-3AB6-49D8-9436-3672566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973600"/>
            <a:ext cx="4370189" cy="4924280"/>
          </a:xfrm>
        </p:spPr>
        <p:txBody>
          <a:bodyPr anchor="ctr"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chemeClr val="tx1"/>
                </a:solidFill>
              </a:rPr>
              <a:t>Readmitted within 30 days (Yes / No)</a:t>
            </a:r>
          </a:p>
          <a:p>
            <a:pPr>
              <a:defRPr sz="1600"/>
            </a:pPr>
            <a:r>
              <a:rPr lang="en-US" sz="1600">
                <a:solidFill>
                  <a:schemeClr val="tx1"/>
                </a:solidFill>
              </a:rPr>
              <a:t>Binary classification problem</a:t>
            </a:r>
          </a:p>
          <a:p>
            <a:pPr>
              <a:defRPr sz="1600"/>
            </a:pPr>
            <a:r>
              <a:rPr lang="en-US" sz="1600">
                <a:solidFill>
                  <a:schemeClr val="tx1"/>
                </a:solidFill>
              </a:rPr>
              <a:t>Class imbalance present (fewer early readmissions)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Data Cleaning &amp; EDA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E9ABDB-D6C8-C347-A7D2-CBCCC4A2D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940808"/>
              </p:ext>
            </p:extLst>
          </p:nvPr>
        </p:nvGraphicFramePr>
        <p:xfrm>
          <a:off x="710238" y="2638425"/>
          <a:ext cx="7633274" cy="3139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7" y="2936558"/>
            <a:ext cx="3284579" cy="984885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1444752"/>
            <a:ext cx="3612294" cy="3968496"/>
          </a:xfrm>
        </p:spPr>
        <p:txBody>
          <a:bodyPr anchor="ctr"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Age midpoint derived from age ranges</a:t>
            </a:r>
          </a:p>
          <a:p>
            <a:pPr>
              <a:defRPr sz="160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Medication change count created</a:t>
            </a:r>
          </a:p>
          <a:p>
            <a:pPr>
              <a:defRPr sz="160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Dropped identifiers to avoid data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Logistic Regression (baseline, interpretable)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Random Forest Classifier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Gradient Boosting Classifier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 dirty="0">
                <a:solidFill>
                  <a:srgbClr val="404040"/>
                </a:solidFill>
              </a:rPr>
              <a:t>Metrics: F1 Score, Precision, Recall</a:t>
            </a:r>
          </a:p>
          <a:p>
            <a:pPr>
              <a:defRPr sz="1600"/>
            </a:pPr>
            <a:r>
              <a:rPr lang="en-US" sz="1600" dirty="0">
                <a:solidFill>
                  <a:srgbClr val="404040"/>
                </a:solidFill>
              </a:rPr>
              <a:t>Confusion Matrix for operational interpretation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Model performed better than random guessing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Able to distinguish high-risk vs low-risk patients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Balanced trade-off between false positives and false negatives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High hospital utilization strongly predicts readmission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Medication instability increases readmission risk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Emergency admissions show higher risk profiles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Early identification of high-risk patients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Targeted interventions reduce preventable readmissions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Improved care quality and reduced hospital costs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Readmission risk is predictable using hospital data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Machine learning enables proactive care strategies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Supports better outcomes and operational efficiency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Incorporate social determinants of health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Test advanced models (XGBoost, SHAP explanations)</a:t>
            </a:r>
          </a:p>
          <a:p>
            <a:pPr>
              <a:defRPr sz="1600"/>
            </a:pPr>
            <a:r>
              <a:rPr lang="en-US" sz="1600">
                <a:solidFill>
                  <a:srgbClr val="404040"/>
                </a:solidFill>
              </a:rPr>
              <a:t>Deploy model into real hospital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16989</TotalTime>
  <Words>286</Words>
  <Application>Microsoft Macintosh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Parcel</vt:lpstr>
      <vt:lpstr>Predicting 30-Day Hospital Readmission Risk in Diabetic Patients</vt:lpstr>
      <vt:lpstr>Business Problem</vt:lpstr>
      <vt:lpstr>Project Objective</vt:lpstr>
      <vt:lpstr>Dataset Overview</vt:lpstr>
      <vt:lpstr>Target Variable</vt:lpstr>
      <vt:lpstr>Data Cleaning &amp; EDA</vt:lpstr>
      <vt:lpstr>Feature Engineering</vt:lpstr>
      <vt:lpstr>Models Implemented</vt:lpstr>
      <vt:lpstr>Evaluation Metrics</vt:lpstr>
      <vt:lpstr>Model Results</vt:lpstr>
      <vt:lpstr>Key Insights</vt:lpstr>
      <vt:lpstr>Business Impact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Jaishree Chatap (jchatap)</cp:lastModifiedBy>
  <cp:revision>3</cp:revision>
  <dcterms:created xsi:type="dcterms:W3CDTF">2013-01-27T09:14:16Z</dcterms:created>
  <dcterms:modified xsi:type="dcterms:W3CDTF">2026-01-31T20:05:08Z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